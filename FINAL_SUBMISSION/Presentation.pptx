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Reproducible AI-Assisted Earthquake Early Warning Research for Western Seismic Regions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Method Development on a California FDSN Pilot with Transfer Path to European Networks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AMGCR Earthquake Research — D-F1 / D-F2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Swiss certificate programme (AMGCR)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29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Why Earthquake Early Warning and open methods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EEW: alerts seconds to tens of seconds before strong shaking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P-wave detection, magnitude estimation, ground-motion prediction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European risk: Mediterranean belt, Alps, anthropogenic seismicity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Switzerland/EU expect documented, open methodologies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Europe-focused programme; California as methods laboratory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Primary target: European seismic networks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California IRIS/EarthScope pilot: completed validation lab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EarthESND: reference only (88 tests on full checkout)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Pilot science freeze: 2026-07-29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Gaps this workflow addresses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Few packaged EEW workflows for European FDSN data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Missing trails: raw MiniSEED → ML-ready features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Benchmark code decoupled from Western pilot science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Small-N pilots cannot support operational EEW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Objectives and completion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Primary: reproducible, AI-ready workflow for Europe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O1–O6 completed (through 8×18 features + interpretation)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O4: instrument response 0/8 applied — documented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O7–O9 proposed: Europe, ML,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Literature — onsite EEW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STA/LTA and triggers for P-wave onset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Allen &amp; Kanamori (2003); Hoshiba et al. (2008)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Trade-offs: latency, false alarms, magnitude saturation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European focus: metadata, latency budgets,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Literature — ObsPy, FDSN, ML,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ObsPy (Krischer et al., 2015)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USGS events + EarthScope waveforms in pilot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EarthESND: ESN/DENN; reference code only here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Manifests, JSON configs, phase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Dataset — completed California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8 events; M 4.05–4.87; BHZ; 40 Hz; 300 s from origin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CI.ADO (6) · CI.USC (2)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12 MiniSEED on disk at EDA; 8 manifest-linked analyses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 European waveforms in completed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How data were acquired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USGS: California 2024, M 4.0–7.5 → 41 catalog matches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EarthScope: CI, NC, BK; 8 events retained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Distance-ranked station list — not uniform sampling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Public FDSN; no credentials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California pilot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Done: download → EDA → signal → preprocessing → features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Done: interpretation, D-S1/D-S2, D-F1 report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EarthESND src/ not used for pilot results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Proposed: EU FDSN, larger N, ML, SeedLink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Methods — EDA &amp; signal (Phase 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EDA: ObsPy inspection; four cohort figures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Signal: peak/RMS, 0–5 s noise proxy, peak SNR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STA/LTA: 0.5 s / 10 s; threshold 2.5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Windows start at origin — no pre-event quiet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Methods — preprocessing &amp; features (Phase 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Demean, detrend, 5% Hann; band-pass 0.1–15 Hz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Response removal attempted → 0/8 applied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18 features from filtered traces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PGM/Arias: counts-based proxies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EDA (example waveform)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 1: M 4.87 at CI.ADO — raw counts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Narrow M 4–5 band; query cutoffs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300 s window from trace start</a:t>
            </a:r>
          </a:p>
        </p:txBody>
      </p:sp>
      <p:pic>
        <p:nvPicPr>
          <p:cNvPr id="4" name="Picture 3" descr="example_waveform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11155680" cy="56542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37959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1. Raw BHZ, M 4.87, CI.ADO (digital counts).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EDA (catalog views)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Figures 2–4: magnitude, time coverage, station usage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ADO supplies 6/8 traces — acquisition bias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Gaps reflect download success</a:t>
            </a:r>
          </a:p>
        </p:txBody>
      </p:sp>
      <p:pic>
        <p:nvPicPr>
          <p:cNvPr id="4" name="Picture 3" descr="magnitude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3596640" cy="27963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532120"/>
            <a:ext cx="3596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2. Magnitude distribution (N=8).</a:t>
            </a:r>
          </a:p>
        </p:txBody>
      </p:sp>
      <p:pic>
        <p:nvPicPr>
          <p:cNvPr id="6" name="Picture 5" descr="events_over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440" y="3200400"/>
            <a:ext cx="3596640" cy="20073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82440" y="5532120"/>
            <a:ext cx="3596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3. Origin time vs magnitude.</a:t>
            </a:r>
          </a:p>
        </p:txBody>
      </p:sp>
      <p:pic>
        <p:nvPicPr>
          <p:cNvPr id="8" name="Picture 7" descr="station_usage_freque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1960" y="3200400"/>
            <a:ext cx="3596640" cy="26788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61960" y="5532120"/>
            <a:ext cx="3596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4. Station usage (ADO vs USC).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signal analysis (ci40675215)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 pick: 10.15–55.15 s (mean 31.3 s)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Peak SNR: 6.3–778 (median 49.9)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 5: high-SNR case, early pick ~10.2 s</a:t>
            </a:r>
          </a:p>
        </p:txBody>
      </p:sp>
      <p:pic>
        <p:nvPicPr>
          <p:cNvPr id="4" name="Picture 3" descr="signal_analysis_ci40675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11155680" cy="112894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37959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5. Signal analysis — ci40675215.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signal analysis (ci40699207 / USC)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ADO: mean SNR 169; USC: mean SNR 42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 6: SNR ~6; duration 0 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SNR is QC indicator, not detection probability</a:t>
            </a:r>
          </a:p>
        </p:txBody>
      </p:sp>
      <p:pic>
        <p:nvPicPr>
          <p:cNvPr id="4" name="Picture 3" descr="signal_analysis_ci40699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11155680" cy="112894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37959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6. Signal analysis — ci40699207 (USC).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Mean peak-SNR: 137 → 1684 (filtered)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Figures 7–8: raw → detrended → filtered → normalised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Filtered counts ≠ physical motion without response</a:t>
            </a:r>
          </a:p>
        </p:txBody>
      </p:sp>
      <p:pic>
        <p:nvPicPr>
          <p:cNvPr id="4" name="Picture 3" descr="preprocessing_ci40675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5440679" cy="54243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7. Preprocessing — ci40675215.</a:t>
            </a:r>
          </a:p>
        </p:txBody>
      </p:sp>
      <p:pic>
        <p:nvPicPr>
          <p:cNvPr id="6" name="Picture 5" descr="preprocessing_ci406992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3200400"/>
            <a:ext cx="5440679" cy="54243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19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8. Preprocessing — ci40699207.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features (spectra &amp; correlations)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8×18 feature matrix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Crest factor mean ≈ 11.4; centroid ~2.3–2.6 Hz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Figures 9–10: FFT grid, correlation heatmap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 ML training in completed pilot</a:t>
            </a:r>
          </a:p>
        </p:txBody>
      </p:sp>
      <p:pic>
        <p:nvPicPr>
          <p:cNvPr id="4" name="Picture 3" descr="feature_engineering_fft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5440679" cy="54186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9. FFT power spectra.</a:t>
            </a:r>
          </a:p>
        </p:txBody>
      </p:sp>
      <p:pic>
        <p:nvPicPr>
          <p:cNvPr id="6" name="Picture 5" descr="feature_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3200400"/>
            <a:ext cx="5440679" cy="44414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19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10. Feature correlation heatmap.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feature distributions &amp; stations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Figures 11–12: histograms, ADO vs USC boxplots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Amplitude features: high collinearity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USC n=2 — indicative only</a:t>
            </a:r>
          </a:p>
        </p:txBody>
      </p:sp>
      <p:pic>
        <p:nvPicPr>
          <p:cNvPr id="4" name="Picture 3" descr="featur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5440679" cy="25526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11. Feature distributions.</a:t>
            </a:r>
          </a:p>
        </p:txBody>
      </p:sp>
      <p:pic>
        <p:nvPicPr>
          <p:cNvPr id="6" name="Picture 5" descr="feature_boxplots_by_s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3200400"/>
            <a:ext cx="5440679" cy="15908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19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12. Features by station.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Script-driven FDSN → features + NPZ stages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Late picks + origin noise limit trigger tuning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Feature matrix: exploratory baselines only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EarthESND: future comparison, not validated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N=8; single BHZ; origin-aligned windows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0/8 response removal; ADO-heavy sampling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Mixed mw/ml; unvalidated P picks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Not comparable to EarthESND K-NET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Construct: counts vs physical units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External: California ≠ Europe → EIDA/ORFEUS pilot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Statistical: N=8 → larger catalogues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Mitigations are proposed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European context &amp; 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Europe primary focus; California validates methods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ObsPy/FDSN reproducibility demonstrated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Proposed: ORFEUS/EIDA manifests + same scripts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 EU waveform data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Future work, conclusions &amp;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Proposed: 50–200+ events, EU pilot, response fix, ML, SeedLink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Conclusion: reproducible chain to 8×18 features established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Acknowledgements: USGS, EarthScope, ObsPy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